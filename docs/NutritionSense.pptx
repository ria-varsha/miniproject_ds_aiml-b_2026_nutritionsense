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37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11111"/>
          </a:solidFill>
          <a:ln w="12700">
            <a:solidFill>
              <a:srgbClr val="111111"/>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4" name="Text 2"/>
          <p:cNvSpPr/>
          <p:nvPr/>
        </p:nvSpPr>
        <p:spPr>
          <a:xfrm>
            <a:off x="457200" y="274320"/>
            <a:ext cx="8229600" cy="914400"/>
          </a:xfrm>
          <a:prstGeom prst="rect">
            <a:avLst/>
          </a:prstGeom>
          <a:noFill/>
          <a:ln/>
        </p:spPr>
        <p:txBody>
          <a:bodyPr wrap="square" rtlCol="0" anchor="ctr"/>
          <a:lstStyle/>
          <a:p>
            <a:pPr marL="0" indent="0" algn="ctr">
              <a:buNone/>
            </a:pPr>
            <a:r>
              <a:rPr lang="en-US" sz="4200" b="1" dirty="0">
                <a:solidFill>
                  <a:srgbClr val="000000"/>
                </a:solidFill>
                <a:latin typeface="Calibri" pitchFamily="34" charset="0"/>
                <a:ea typeface="Calibri" pitchFamily="34" charset="-122"/>
                <a:cs typeface="Calibri" pitchFamily="34" charset="-120"/>
              </a:rPr>
              <a:t>NutritionSense</a:t>
            </a:r>
            <a:endParaRPr lang="en-US" sz="4200" dirty="0"/>
          </a:p>
        </p:txBody>
      </p:sp>
      <p:sp>
        <p:nvSpPr>
          <p:cNvPr id="5" name="Text 3"/>
          <p:cNvSpPr/>
          <p:nvPr/>
        </p:nvSpPr>
        <p:spPr>
          <a:xfrm>
            <a:off x="457200" y="1097280"/>
            <a:ext cx="8229600" cy="502920"/>
          </a:xfrm>
          <a:prstGeom prst="rect">
            <a:avLst/>
          </a:prstGeom>
          <a:noFill/>
          <a:ln/>
        </p:spPr>
        <p:txBody>
          <a:bodyPr wrap="square" rtlCol="0" anchor="ctr"/>
          <a:lstStyle/>
          <a:p>
            <a:pPr marL="0" indent="0" algn="ctr">
              <a:buNone/>
            </a:pPr>
            <a:r>
              <a:rPr lang="en-US" sz="1800" i="1" dirty="0">
                <a:solidFill>
                  <a:srgbClr val="555555"/>
                </a:solidFill>
                <a:latin typeface="Calibri" pitchFamily="34" charset="0"/>
                <a:ea typeface="Calibri" pitchFamily="34" charset="-122"/>
                <a:cs typeface="Calibri" pitchFamily="34" charset="-120"/>
              </a:rPr>
              <a:t>Data-Driven Analysis of Dietary Patterns and Health Risks</a:t>
            </a:r>
            <a:endParaRPr lang="en-US" sz="1800" dirty="0"/>
          </a:p>
        </p:txBody>
      </p:sp>
      <p:sp>
        <p:nvSpPr>
          <p:cNvPr id="6" name="Shape 4"/>
          <p:cNvSpPr/>
          <p:nvPr/>
        </p:nvSpPr>
        <p:spPr>
          <a:xfrm>
            <a:off x="2286000" y="1691640"/>
            <a:ext cx="4572000" cy="36576"/>
          </a:xfrm>
          <a:prstGeom prst="rect">
            <a:avLst/>
          </a:prstGeom>
          <a:solidFill>
            <a:srgbClr val="CCCCCC"/>
          </a:solidFill>
          <a:ln w="12700">
            <a:solidFill>
              <a:srgbClr val="CCCCCC"/>
            </a:solidFill>
            <a:prstDash val="solid"/>
          </a:ln>
        </p:spPr>
      </p:sp>
      <p:sp>
        <p:nvSpPr>
          <p:cNvPr id="7" name="Shape 5"/>
          <p:cNvSpPr/>
          <p:nvPr/>
        </p:nvSpPr>
        <p:spPr>
          <a:xfrm>
            <a:off x="1371600" y="1874520"/>
            <a:ext cx="6400800" cy="2651760"/>
          </a:xfrm>
          <a:prstGeom prst="rect">
            <a:avLst/>
          </a:prstGeom>
          <a:solidFill>
            <a:srgbClr val="F8F8F8"/>
          </a:solidFill>
          <a:ln w="12700">
            <a:solidFill>
              <a:srgbClr val="CCCCCC"/>
            </a:solidFill>
            <a:prstDash val="solid"/>
          </a:ln>
        </p:spPr>
      </p:sp>
      <p:sp>
        <p:nvSpPr>
          <p:cNvPr id="8" name="Text 6"/>
          <p:cNvSpPr/>
          <p:nvPr/>
        </p:nvSpPr>
        <p:spPr>
          <a:xfrm>
            <a:off x="1828800" y="2011680"/>
            <a:ext cx="5486400" cy="2377440"/>
          </a:xfrm>
          <a:prstGeom prst="rect">
            <a:avLst/>
          </a:prstGeom>
          <a:noFill/>
          <a:ln/>
        </p:spPr>
        <p:txBody>
          <a:bodyPr wrap="square"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Submitted by</a:t>
            </a:r>
            <a:endParaRPr lang="en-US" sz="1300" dirty="0"/>
          </a:p>
          <a:p>
            <a:pPr marL="0" indent="0" algn="ctr">
              <a:buNone/>
            </a:pPr>
            <a:r>
              <a:rPr lang="en-US" sz="1200" dirty="0">
                <a:solidFill>
                  <a:srgbClr val="222222"/>
                </a:solidFill>
                <a:latin typeface="Calibri" pitchFamily="34" charset="0"/>
                <a:ea typeface="Calibri" pitchFamily="34" charset="-122"/>
                <a:cs typeface="Calibri" pitchFamily="34" charset="-120"/>
              </a:rPr>
              <a:t>Ria Varsha N  –  RA2311026050033</a:t>
            </a:r>
            <a:endParaRPr lang="en-US" sz="1300" dirty="0"/>
          </a:p>
          <a:p>
            <a:pPr marL="0" indent="0" algn="ctr">
              <a:buNone/>
            </a:pPr>
            <a:r>
              <a:rPr lang="en-US" sz="1200" dirty="0">
                <a:solidFill>
                  <a:srgbClr val="222222"/>
                </a:solidFill>
                <a:latin typeface="Calibri" pitchFamily="34" charset="0"/>
                <a:ea typeface="Calibri" pitchFamily="34" charset="-122"/>
                <a:cs typeface="Calibri" pitchFamily="34" charset="-120"/>
              </a:rPr>
              <a:t>Priyaavarshiny M  –  RA2311026050081</a:t>
            </a:r>
            <a:endParaRPr lang="en-US" sz="1300" dirty="0"/>
          </a:p>
          <a:p>
            <a:pPr marL="0" indent="0" algn="ctr">
              <a:buNone/>
            </a:pPr>
            <a:r>
              <a:rPr lang="en-US" sz="800" dirty="0">
                <a:solidFill>
                  <a:srgbClr val="222222"/>
                </a:solidFill>
                <a:latin typeface="Calibri" pitchFamily="34" charset="0"/>
                <a:ea typeface="Calibri" pitchFamily="34" charset="-122"/>
                <a:cs typeface="Calibri" pitchFamily="34" charset="-120"/>
              </a:rPr>
              <a:t> </a:t>
            </a:r>
            <a:endParaRPr lang="en-US" sz="1300" dirty="0"/>
          </a:p>
          <a:p>
            <a:pPr marL="0" indent="0" algn="ctr">
              <a:buNone/>
            </a:pPr>
            <a:r>
              <a:rPr lang="en-US" sz="1200" b="1" dirty="0">
                <a:solidFill>
                  <a:srgbClr val="222222"/>
                </a:solidFill>
                <a:latin typeface="Calibri" pitchFamily="34" charset="0"/>
                <a:ea typeface="Calibri" pitchFamily="34" charset="-122"/>
                <a:cs typeface="Calibri" pitchFamily="34" charset="-120"/>
              </a:rPr>
              <a:t>Course:  </a:t>
            </a:r>
            <a:r>
              <a:rPr lang="en-US" sz="1200" dirty="0">
                <a:solidFill>
                  <a:srgbClr val="222222"/>
                </a:solidFill>
                <a:latin typeface="Calibri" pitchFamily="34" charset="0"/>
                <a:ea typeface="Calibri" pitchFamily="34" charset="-122"/>
                <a:cs typeface="Calibri" pitchFamily="34" charset="-120"/>
              </a:rPr>
              <a:t>Data Science</a:t>
            </a:r>
            <a:endParaRPr lang="en-US" sz="1300" dirty="0"/>
          </a:p>
          <a:p>
            <a:pPr marL="0" indent="0" algn="ctr">
              <a:buNone/>
            </a:pPr>
            <a:r>
              <a:rPr lang="en-US" sz="1200" b="1" dirty="0">
                <a:solidFill>
                  <a:srgbClr val="222222"/>
                </a:solidFill>
                <a:latin typeface="Calibri" pitchFamily="34" charset="0"/>
                <a:ea typeface="Calibri" pitchFamily="34" charset="-122"/>
                <a:cs typeface="Calibri" pitchFamily="34" charset="-120"/>
              </a:rPr>
              <a:t>Department:  </a:t>
            </a:r>
            <a:r>
              <a:rPr lang="en-US" sz="1200" dirty="0">
                <a:solidFill>
                  <a:srgbClr val="222222"/>
                </a:solidFill>
                <a:latin typeface="Calibri" pitchFamily="34" charset="0"/>
                <a:ea typeface="Calibri" pitchFamily="34" charset="-122"/>
                <a:cs typeface="Calibri" pitchFamily="34" charset="-120"/>
              </a:rPr>
              <a:t>CSE with AIML</a:t>
            </a:r>
            <a:endParaRPr lang="en-US" sz="1300" dirty="0"/>
          </a:p>
          <a:p>
            <a:pPr marL="0" indent="0" algn="ctr">
              <a:buNone/>
            </a:pPr>
            <a:r>
              <a:rPr lang="en-US" sz="1200" b="1" dirty="0">
                <a:solidFill>
                  <a:srgbClr val="222222"/>
                </a:solidFill>
                <a:latin typeface="Calibri" pitchFamily="34" charset="0"/>
                <a:ea typeface="Calibri" pitchFamily="34" charset="-122"/>
                <a:cs typeface="Calibri" pitchFamily="34" charset="-120"/>
              </a:rPr>
              <a:t>Class:  </a:t>
            </a:r>
            <a:r>
              <a:rPr lang="en-US" sz="1200" dirty="0">
                <a:solidFill>
                  <a:srgbClr val="222222"/>
                </a:solidFill>
                <a:latin typeface="Calibri" pitchFamily="34" charset="0"/>
                <a:ea typeface="Calibri" pitchFamily="34" charset="-122"/>
                <a:cs typeface="Calibri" pitchFamily="34" charset="-120"/>
              </a:rPr>
              <a:t>III AIML B</a:t>
            </a:r>
            <a:endParaRPr lang="en-US" sz="1300" dirty="0"/>
          </a:p>
          <a:p>
            <a:pPr marL="0" indent="0" algn="ctr">
              <a:buNone/>
            </a:pPr>
            <a:r>
              <a:rPr lang="en-US" sz="1200" b="1" dirty="0">
                <a:solidFill>
                  <a:srgbClr val="222222"/>
                </a:solidFill>
                <a:latin typeface="Calibri" pitchFamily="34" charset="0"/>
                <a:ea typeface="Calibri" pitchFamily="34" charset="-122"/>
                <a:cs typeface="Calibri" pitchFamily="34" charset="-120"/>
              </a:rPr>
              <a:t>Year:  </a:t>
            </a:r>
            <a:r>
              <a:rPr lang="en-US" sz="1200" dirty="0">
                <a:solidFill>
                  <a:srgbClr val="222222"/>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Introduction</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566508" y="1386840"/>
            <a:ext cx="7863840" cy="4114800"/>
          </a:xfrm>
          <a:prstGeom prst="rect">
            <a:avLst/>
          </a:prstGeom>
          <a:noFill/>
          <a:ln/>
        </p:spPr>
        <p:txBody>
          <a:bodyPr wrap="square" rtlCol="0" anchor="t"/>
          <a:lstStyle/>
          <a:p>
            <a:pPr marL="342900" indent="-342900">
              <a:spcAft>
                <a:spcPts val="400"/>
              </a:spcAft>
              <a:buSzPct val="100000"/>
              <a:buChar char="•"/>
            </a:pPr>
            <a:r>
              <a:rPr lang="en-US" sz="1600" dirty="0"/>
              <a:t>Rise in lifestyle diseases such as obesity and diabetes has become a major global health concern due to changes in modern living conditions and daily habits</a:t>
            </a:r>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Caused by poor diet and lack of physical activity</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Need for analyzing dietary patterns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Data analytics helps identify hidden trends</a:t>
            </a:r>
          </a:p>
          <a:p>
            <a:pPr marL="342900" indent="-342900">
              <a:spcAft>
                <a:spcPts val="400"/>
              </a:spcAft>
              <a:buSzPct val="100000"/>
              <a:buChar char="•"/>
            </a:pPr>
            <a:r>
              <a:rPr lang="en-US" sz="1600" dirty="0"/>
              <a:t>Traditional methods are not sufficient to capture complex relationships between lifestyle factors and health risks</a:t>
            </a:r>
          </a:p>
          <a:p>
            <a:pPr marL="342900" indent="-342900">
              <a:spcAft>
                <a:spcPts val="400"/>
              </a:spcAft>
              <a:buSzPct val="100000"/>
              <a:buFontTx/>
              <a:buChar char="•"/>
            </a:pPr>
            <a:r>
              <a:rPr lang="en-US" sz="1600" dirty="0"/>
              <a:t>It enables better understanding of how different factors such as diet, activity, and behavior contribute to overall health </a:t>
            </a:r>
          </a:p>
          <a:p>
            <a:pPr marL="342900" indent="-342900">
              <a:spcAft>
                <a:spcPts val="400"/>
              </a:spcAft>
              <a:buSzPct val="100000"/>
              <a:buChar char="•"/>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Problem Statement</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7863840" cy="4114800"/>
          </a:xfrm>
          <a:prstGeom prst="rect">
            <a:avLst/>
          </a:prstGeom>
          <a:noFill/>
          <a:ln/>
        </p:spPr>
        <p:txBody>
          <a:bodyPr wrap="square"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Unhealthy eating habits are increasing</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Difficulty in identifying health risks manually</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Need for automated and data-driven analysis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Goal: Predict health risks using lifestyle data</a:t>
            </a:r>
          </a:p>
          <a:p>
            <a:pPr marL="342900" indent="-342900">
              <a:spcAft>
                <a:spcPts val="400"/>
              </a:spcAft>
              <a:buSzPct val="100000"/>
              <a:buChar char="•"/>
            </a:pPr>
            <a:endParaRPr lang="en-US" sz="1500" dirty="0">
              <a:solidFill>
                <a:srgbClr val="222222"/>
              </a:solidFill>
              <a:latin typeface="Calibri" pitchFamily="34" charset="0"/>
              <a:ea typeface="Calibri" pitchFamily="34" charset="-122"/>
              <a:cs typeface="Calibri" pitchFamily="34" charset="-120"/>
            </a:endParaRPr>
          </a:p>
          <a:p>
            <a:pPr>
              <a:spcAft>
                <a:spcPts val="400"/>
              </a:spcAft>
              <a:buSzPct val="100000"/>
            </a:pPr>
            <a:r>
              <a:rPr lang="en-US" sz="1600" dirty="0"/>
              <a:t>Unhealthy eating habits are increasing rapidly due to changing lifestyles and greater dependence on processed and fast foods, which significantly impacts overall health. Identifying health risks manually is often difficult and inefficient, as it fails to capture complex relationships between multiple lifestyle factors. Therefore, there is a strong need for automated and data-driven analysis methods that can process large datasets and uncover meaningful patterns. This project aims to address this gap by predicting health risks using lifestyle and dietary data, enabling more accurate and efficient health assessment.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Objectives</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545487" y="1248997"/>
            <a:ext cx="7863840" cy="4114800"/>
          </a:xfrm>
          <a:prstGeom prst="rect">
            <a:avLst/>
          </a:prstGeom>
          <a:noFill/>
          <a:ln/>
        </p:spPr>
        <p:txBody>
          <a:bodyPr wrap="square"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Analyze dietary and lifestyle data</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Identify patterns affecting health</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Visualize relationships between features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Build a predictive machine learning mode</a:t>
            </a:r>
          </a:p>
          <a:p>
            <a:pPr marL="342900" indent="-342900">
              <a:spcAft>
                <a:spcPts val="400"/>
              </a:spcAft>
              <a:buSzPct val="100000"/>
              <a:buChar char="•"/>
            </a:pPr>
            <a:endParaRPr lang="en-US" sz="1500" dirty="0">
              <a:solidFill>
                <a:srgbClr val="222222"/>
              </a:solidFill>
              <a:latin typeface="Calibri" pitchFamily="34" charset="0"/>
              <a:ea typeface="Calibri" pitchFamily="34" charset="-122"/>
              <a:cs typeface="Calibri" pitchFamily="34" charset="-120"/>
            </a:endParaRPr>
          </a:p>
          <a:p>
            <a:pPr>
              <a:spcAft>
                <a:spcPts val="400"/>
              </a:spcAft>
              <a:buSzPct val="100000"/>
            </a:pPr>
            <a:r>
              <a:rPr lang="en-US" sz="1600" dirty="0"/>
              <a:t>The project focuses on analyzing dietary and lifestyle data to gain a comprehensive understanding of factors influencing individual health outcomes. By examining this data, it aims to identify key patterns and trends that contribute to health risks such as obesity. </a:t>
            </a:r>
            <a:r>
              <a:rPr lang="en-US" sz="1500" dirty="0">
                <a:solidFill>
                  <a:srgbClr val="222222"/>
                </a:solidFill>
                <a:latin typeface="Calibri" pitchFamily="34" charset="0"/>
                <a:ea typeface="Calibri" pitchFamily="34" charset="-122"/>
                <a:cs typeface="Calibri" pitchFamily="34" charset="-120"/>
              </a:rPr>
              <a:t>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Dataset Description</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7863840" cy="4114800"/>
          </a:xfrm>
          <a:prstGeom prst="rect">
            <a:avLst/>
          </a:prstGeom>
          <a:noFill/>
          <a:ln/>
        </p:spPr>
        <p:txBody>
          <a:bodyPr wrap="square"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Dataset contains dietary and lifestyle features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Key features include:</a:t>
            </a:r>
            <a:endParaRPr lang="en-US" sz="1500" dirty="0"/>
          </a:p>
          <a:p>
            <a:pPr marL="685800" lvl="1" indent="-342900">
              <a:spcAft>
                <a:spcPts val="300"/>
              </a:spcAft>
              <a:buSzPct val="100000"/>
              <a:buChar char="•"/>
            </a:pPr>
            <a:r>
              <a:rPr lang="en-US" sz="1300" dirty="0">
                <a:solidFill>
                  <a:srgbClr val="555555"/>
                </a:solidFill>
                <a:latin typeface="Calibri" pitchFamily="34" charset="0"/>
                <a:ea typeface="Calibri" pitchFamily="34" charset="-122"/>
                <a:cs typeface="Calibri" pitchFamily="34" charset="-120"/>
              </a:rPr>
              <a:t>Age</a:t>
            </a:r>
            <a:endParaRPr lang="en-US" sz="1500" dirty="0"/>
          </a:p>
          <a:p>
            <a:pPr marL="685800" lvl="1" indent="-342900">
              <a:spcAft>
                <a:spcPts val="300"/>
              </a:spcAft>
              <a:buSzPct val="100000"/>
              <a:buChar char="•"/>
            </a:pPr>
            <a:r>
              <a:rPr lang="en-US" sz="1300" dirty="0">
                <a:solidFill>
                  <a:srgbClr val="555555"/>
                </a:solidFill>
                <a:latin typeface="Calibri" pitchFamily="34" charset="0"/>
                <a:ea typeface="Calibri" pitchFamily="34" charset="-122"/>
                <a:cs typeface="Calibri" pitchFamily="34" charset="-120"/>
              </a:rPr>
              <a:t>Eating habits</a:t>
            </a:r>
            <a:endParaRPr lang="en-US" sz="1500" dirty="0"/>
          </a:p>
          <a:p>
            <a:pPr marL="685800" lvl="1" indent="-342900">
              <a:spcAft>
                <a:spcPts val="300"/>
              </a:spcAft>
              <a:buSzPct val="100000"/>
              <a:buChar char="•"/>
            </a:pPr>
            <a:r>
              <a:rPr lang="en-US" sz="1300" dirty="0">
                <a:solidFill>
                  <a:srgbClr val="555555"/>
                </a:solidFill>
                <a:latin typeface="Calibri" pitchFamily="34" charset="0"/>
                <a:ea typeface="Calibri" pitchFamily="34" charset="-122"/>
                <a:cs typeface="Calibri" pitchFamily="34" charset="-120"/>
              </a:rPr>
              <a:t>Physical activity</a:t>
            </a:r>
            <a:endParaRPr lang="en-US" sz="1500" dirty="0"/>
          </a:p>
          <a:p>
            <a:pPr marL="685800" lvl="1" indent="-342900">
              <a:spcAft>
                <a:spcPts val="300"/>
              </a:spcAft>
              <a:buSzPct val="100000"/>
              <a:buChar char="•"/>
            </a:pPr>
            <a:r>
              <a:rPr lang="en-US" sz="1300" dirty="0">
                <a:solidFill>
                  <a:srgbClr val="555555"/>
                </a:solidFill>
                <a:latin typeface="Calibri" pitchFamily="34" charset="0"/>
                <a:ea typeface="Calibri" pitchFamily="34" charset="-122"/>
                <a:cs typeface="Calibri" pitchFamily="34" charset="-120"/>
              </a:rPr>
              <a:t>Water intake</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Target variable:</a:t>
            </a:r>
            <a:endParaRPr lang="en-US" sz="1500" dirty="0"/>
          </a:p>
          <a:p>
            <a:pPr marL="685800" lvl="1" indent="-342900">
              <a:spcAft>
                <a:spcPts val="300"/>
              </a:spcAft>
              <a:buSzPct val="100000"/>
              <a:buChar char="•"/>
            </a:pPr>
            <a:r>
              <a:rPr lang="en-US" sz="1300" dirty="0">
                <a:solidFill>
                  <a:srgbClr val="555555"/>
                </a:solidFill>
                <a:latin typeface="Calibri" pitchFamily="34" charset="0"/>
                <a:ea typeface="Calibri" pitchFamily="34" charset="-122"/>
                <a:cs typeface="Calibri" pitchFamily="34" charset="-120"/>
              </a:rPr>
              <a:t>Obesity level (NObeyesdad)</a:t>
            </a:r>
            <a:endParaRPr lang="en-US" sz="1500" dirty="0"/>
          </a:p>
        </p:txBody>
      </p:sp>
      <p:pic>
        <p:nvPicPr>
          <p:cNvPr id="12" name="Picture 11">
            <a:extLst>
              <a:ext uri="{FF2B5EF4-FFF2-40B4-BE49-F238E27FC236}">
                <a16:creationId xmlns:a16="http://schemas.microsoft.com/office/drawing/2014/main" id="{42CCEFD3-00EE-3E8F-C340-50330B5B3D66}"/>
              </a:ext>
            </a:extLst>
          </p:cNvPr>
          <p:cNvPicPr>
            <a:picLocks noChangeAspect="1"/>
          </p:cNvPicPr>
          <p:nvPr/>
        </p:nvPicPr>
        <p:blipFill>
          <a:blip r:embed="rId3"/>
          <a:stretch>
            <a:fillRect/>
          </a:stretch>
        </p:blipFill>
        <p:spPr>
          <a:xfrm>
            <a:off x="4787153" y="1553049"/>
            <a:ext cx="3227293" cy="1987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Data Preprocessing</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7863840" cy="4114800"/>
          </a:xfrm>
          <a:prstGeom prst="rect">
            <a:avLst/>
          </a:prstGeom>
          <a:noFill/>
          <a:ln/>
        </p:spPr>
        <p:txBody>
          <a:bodyPr wrap="square" rtlCol="0" anchor="t"/>
          <a:lstStyle/>
          <a:p>
            <a:pPr>
              <a:spcAft>
                <a:spcPts val="400"/>
              </a:spcAft>
              <a:buSzPct val="100000"/>
            </a:pPr>
            <a:r>
              <a:rPr lang="en-US" sz="1600" dirty="0"/>
              <a:t>Data preprocessing was carried out to ensure the quality and reliability of the dataset before analysis. Missing values were identified and removed to prevent inconsistencies and inaccuracies in the results, while duplicate records were eliminated to maintain data integrity. Categorical variables were converted into numerical form using appropriate encoding techniques, enabling effective processing by machine learning algorithms. Finally, the cleaned and transformed dataset was prepared for further analysis and model development, ensuring improved performance and accuracy</a:t>
            </a:r>
            <a:endParaRPr lang="en-US" sz="1500" dirty="0">
              <a:solidFill>
                <a:srgbClr val="222222"/>
              </a:solidFill>
              <a:latin typeface="Calibri" pitchFamily="34" charset="0"/>
              <a:ea typeface="Calibri" pitchFamily="34" charset="-122"/>
              <a:cs typeface="Calibri" pitchFamily="34" charset="-120"/>
            </a:endParaRPr>
          </a:p>
          <a:p>
            <a:pPr marL="342900" indent="-342900">
              <a:spcAft>
                <a:spcPts val="400"/>
              </a:spcAft>
              <a:buSzPct val="100000"/>
              <a:buChar char="•"/>
            </a:pPr>
            <a:endParaRPr lang="en-US" sz="1500" dirty="0">
              <a:solidFill>
                <a:srgbClr val="222222"/>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Removed missing values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Removed duplicate records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Converted categorical data to numerical</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Prepared dataset for analysis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Data Visualization</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3840480" cy="3200400"/>
          </a:xfrm>
          <a:prstGeom prst="rect">
            <a:avLst/>
          </a:prstGeom>
          <a:noFill/>
          <a:ln/>
        </p:spPr>
        <p:txBody>
          <a:bodyPr wrap="square" rtlCol="0" anchor="t"/>
          <a:lstStyle/>
          <a:p>
            <a:pPr marL="342900" indent="-342900">
              <a:spcAft>
                <a:spcPts val="600"/>
              </a:spcAft>
              <a:buSzPct val="100000"/>
              <a:buChar char="•"/>
            </a:pPr>
            <a:endParaRPr lang="en-US" sz="1400" dirty="0"/>
          </a:p>
        </p:txBody>
      </p:sp>
      <p:pic>
        <p:nvPicPr>
          <p:cNvPr id="23" name="Picture 22">
            <a:extLst>
              <a:ext uri="{FF2B5EF4-FFF2-40B4-BE49-F238E27FC236}">
                <a16:creationId xmlns:a16="http://schemas.microsoft.com/office/drawing/2014/main" id="{4BD97640-E5B8-5A1A-1809-1B455C025ACB}"/>
              </a:ext>
            </a:extLst>
          </p:cNvPr>
          <p:cNvPicPr>
            <a:picLocks noChangeAspect="1"/>
          </p:cNvPicPr>
          <p:nvPr/>
        </p:nvPicPr>
        <p:blipFill>
          <a:blip r:embed="rId3"/>
          <a:stretch>
            <a:fillRect/>
          </a:stretch>
        </p:blipFill>
        <p:spPr>
          <a:xfrm>
            <a:off x="223280" y="1334156"/>
            <a:ext cx="4186942" cy="2476324"/>
          </a:xfrm>
          <a:prstGeom prst="rect">
            <a:avLst/>
          </a:prstGeom>
        </p:spPr>
      </p:pic>
      <p:pic>
        <p:nvPicPr>
          <p:cNvPr id="25" name="Picture 24">
            <a:extLst>
              <a:ext uri="{FF2B5EF4-FFF2-40B4-BE49-F238E27FC236}">
                <a16:creationId xmlns:a16="http://schemas.microsoft.com/office/drawing/2014/main" id="{FFCDEF9D-982F-BD8A-8981-DDC5E100E75A}"/>
              </a:ext>
            </a:extLst>
          </p:cNvPr>
          <p:cNvPicPr>
            <a:picLocks noChangeAspect="1"/>
          </p:cNvPicPr>
          <p:nvPr/>
        </p:nvPicPr>
        <p:blipFill>
          <a:blip r:embed="rId4"/>
          <a:srcRect l="1737" r="1265"/>
          <a:stretch>
            <a:fillRect/>
          </a:stretch>
        </p:blipFill>
        <p:spPr>
          <a:xfrm>
            <a:off x="4677508" y="1334156"/>
            <a:ext cx="4009292" cy="24461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Model Building</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7863840" cy="4114800"/>
          </a:xfrm>
          <a:prstGeom prst="rect">
            <a:avLst/>
          </a:prstGeom>
          <a:noFill/>
          <a:ln/>
        </p:spPr>
        <p:txBody>
          <a:bodyPr wrap="square"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Algorithm: Random Forest Classifier</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Data split into training and testing sets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Model trained on the prepared dataset</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Suitable for complex, multi-feature data</a:t>
            </a:r>
          </a:p>
          <a:p>
            <a:pPr marL="342900" indent="-342900">
              <a:spcAft>
                <a:spcPts val="400"/>
              </a:spcAft>
              <a:buSzPct val="100000"/>
              <a:buChar char="•"/>
            </a:pPr>
            <a:endParaRPr lang="en-US" sz="1500" dirty="0">
              <a:solidFill>
                <a:srgbClr val="222222"/>
              </a:solidFill>
              <a:latin typeface="Calibri" pitchFamily="34" charset="0"/>
              <a:ea typeface="Calibri" pitchFamily="34" charset="-122"/>
              <a:cs typeface="Calibri" pitchFamily="34" charset="-120"/>
            </a:endParaRPr>
          </a:p>
          <a:p>
            <a:pPr>
              <a:spcAft>
                <a:spcPts val="400"/>
              </a:spcAft>
              <a:buSzPct val="100000"/>
            </a:pPr>
            <a:r>
              <a:rPr lang="en-US" sz="1600" dirty="0"/>
              <a:t>The project utilizes the Random Forest Classifier as the primary machine learning algorithm due to its ability to handle complex and high-dimensional data effectively. The dataset is divided into training and testing sets to ensure proper evaluation of the model’s performance. The model is trained using the prepared dataset, allowing it to learn patterns and relationships between features. Due to its ensemble nature, the Random Forest algorithm is highly suitable for handling multi-feature data and provides robust and accurate predictions.</a:t>
            </a:r>
            <a:endParaRPr lang="en-US" sz="1500" dirty="0">
              <a:solidFill>
                <a:srgbClr val="222222"/>
              </a:solidFill>
              <a:latin typeface="Calibri" pitchFamily="34" charset="0"/>
              <a:ea typeface="Calibri" pitchFamily="34" charset="-122"/>
              <a:cs typeface="Calibri"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Results</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Shape 6"/>
          <p:cNvSpPr/>
          <p:nvPr/>
        </p:nvSpPr>
        <p:spPr>
          <a:xfrm>
            <a:off x="640080" y="850392"/>
            <a:ext cx="2154621" cy="1069848"/>
          </a:xfrm>
          <a:prstGeom prst="rect">
            <a:avLst/>
          </a:prstGeom>
          <a:solidFill>
            <a:srgbClr val="F4F4F4"/>
          </a:solidFill>
          <a:ln w="12700">
            <a:solidFill>
              <a:srgbClr val="CCCCCC"/>
            </a:solidFill>
            <a:prstDash val="solid"/>
          </a:ln>
        </p:spPr>
      </p:sp>
      <p:sp>
        <p:nvSpPr>
          <p:cNvPr id="9" name="Text 7"/>
          <p:cNvSpPr/>
          <p:nvPr/>
        </p:nvSpPr>
        <p:spPr>
          <a:xfrm>
            <a:off x="-228600" y="932688"/>
            <a:ext cx="3657600" cy="914400"/>
          </a:xfrm>
          <a:prstGeom prst="rect">
            <a:avLst/>
          </a:prstGeom>
          <a:noFill/>
          <a:ln/>
        </p:spPr>
        <p:txBody>
          <a:bodyPr wrap="square" rtlCol="0" anchor="ctr"/>
          <a:lstStyle/>
          <a:p>
            <a:pPr marL="0" indent="0" algn="ctr">
              <a:buNone/>
            </a:pPr>
            <a:r>
              <a:rPr lang="en-US" sz="2000" b="1" dirty="0">
                <a:solidFill>
                  <a:srgbClr val="000000"/>
                </a:solidFill>
                <a:latin typeface="Calibri" pitchFamily="34" charset="0"/>
                <a:ea typeface="Calibri" pitchFamily="34" charset="-122"/>
                <a:cs typeface="Calibri" pitchFamily="34" charset="-120"/>
              </a:rPr>
              <a:t>~96%</a:t>
            </a:r>
            <a:endParaRPr lang="en-US" sz="2000" dirty="0"/>
          </a:p>
        </p:txBody>
      </p:sp>
      <p:sp>
        <p:nvSpPr>
          <p:cNvPr id="10" name="Text 8"/>
          <p:cNvSpPr/>
          <p:nvPr/>
        </p:nvSpPr>
        <p:spPr>
          <a:xfrm>
            <a:off x="-111410" y="2048256"/>
            <a:ext cx="3657600" cy="411480"/>
          </a:xfrm>
          <a:prstGeom prst="rect">
            <a:avLst/>
          </a:prstGeom>
          <a:noFill/>
          <a:ln/>
        </p:spPr>
        <p:txBody>
          <a:bodyPr wrap="square" rtlCol="0" anchor="ctr"/>
          <a:lstStyle/>
          <a:p>
            <a:pPr marL="0" indent="0" algn="ctr">
              <a:buNone/>
            </a:pPr>
            <a:r>
              <a:rPr lang="en-US" sz="1400" dirty="0">
                <a:solidFill>
                  <a:srgbClr val="555555"/>
                </a:solidFill>
                <a:latin typeface="Calibri" pitchFamily="34" charset="0"/>
                <a:ea typeface="Calibri" pitchFamily="34" charset="-122"/>
                <a:cs typeface="Calibri" pitchFamily="34" charset="-120"/>
              </a:rPr>
              <a:t>Model Accuracy</a:t>
            </a:r>
            <a:endParaRPr lang="en-US" sz="1400" dirty="0"/>
          </a:p>
        </p:txBody>
      </p:sp>
      <p:sp>
        <p:nvSpPr>
          <p:cNvPr id="11" name="Text 9"/>
          <p:cNvSpPr/>
          <p:nvPr/>
        </p:nvSpPr>
        <p:spPr>
          <a:xfrm>
            <a:off x="640080" y="2788920"/>
            <a:ext cx="7863840" cy="182880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Predictions match actual values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Model performs effectively on test data</a:t>
            </a:r>
            <a:endParaRPr lang="en-US" sz="1500" dirty="0"/>
          </a:p>
          <a:p>
            <a:pPr marL="342900" indent="-342900">
              <a:buSzPct val="100000"/>
              <a:buChar char="•"/>
            </a:pPr>
            <a:r>
              <a:rPr lang="en-US" sz="1500" dirty="0">
                <a:solidFill>
                  <a:srgbClr val="222222"/>
                </a:solidFill>
                <a:latin typeface="Calibri" pitchFamily="34" charset="0"/>
                <a:ea typeface="Calibri" pitchFamily="34" charset="-122"/>
                <a:cs typeface="Calibri" pitchFamily="34" charset="-120"/>
              </a:rPr>
              <a:t>Random Forest classifier proved highly reliable</a:t>
            </a:r>
            <a:endParaRPr lang="en-US" sz="1500" dirty="0"/>
          </a:p>
        </p:txBody>
      </p:sp>
      <p:pic>
        <p:nvPicPr>
          <p:cNvPr id="13" name="Picture 12">
            <a:extLst>
              <a:ext uri="{FF2B5EF4-FFF2-40B4-BE49-F238E27FC236}">
                <a16:creationId xmlns:a16="http://schemas.microsoft.com/office/drawing/2014/main" id="{4B6FD59D-963D-1E55-FE0F-61453DFB9F37}"/>
              </a:ext>
            </a:extLst>
          </p:cNvPr>
          <p:cNvPicPr>
            <a:picLocks noChangeAspect="1"/>
          </p:cNvPicPr>
          <p:nvPr/>
        </p:nvPicPr>
        <p:blipFill>
          <a:blip r:embed="rId3"/>
          <a:stretch>
            <a:fillRect/>
          </a:stretch>
        </p:blipFill>
        <p:spPr>
          <a:xfrm>
            <a:off x="4802316" y="1412157"/>
            <a:ext cx="3562728" cy="24243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Key Insights</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777240"/>
            <a:ext cx="7863840" cy="4114800"/>
          </a:xfrm>
          <a:prstGeom prst="rect">
            <a:avLst/>
          </a:prstGeom>
          <a:noFill/>
          <a:ln/>
        </p:spPr>
        <p:txBody>
          <a:bodyPr wrap="square" rtlCol="0" anchor="t"/>
          <a:lstStyle/>
          <a:p>
            <a:pPr marL="342900" indent="-342900">
              <a:spcAft>
                <a:spcPts val="400"/>
              </a:spcAft>
              <a:buSzPct val="100000"/>
              <a:buChar char="•"/>
            </a:pPr>
            <a:r>
              <a:rPr lang="en-US" sz="1600" dirty="0"/>
              <a:t>The analysis indicates that lower levels of physical activity are strongly associated with higher obesity rates, highlighting the importance of regular exercise. Poor dietary habits, including high consumption of unhealthy and processed foods, significantly increase the risk of various health issues. Adequate water intake plays a crucial role in maintaining proper body functions and overall health. Overall, lifestyle choices, including diet, physical activity, and daily habits, have a significant influence on determining long-term health outcomes.</a:t>
            </a:r>
            <a:endParaRPr lang="en-US" sz="1500" dirty="0">
              <a:solidFill>
                <a:srgbClr val="222222"/>
              </a:solidFill>
              <a:latin typeface="Calibri" pitchFamily="34" charset="0"/>
              <a:ea typeface="Calibri" pitchFamily="34" charset="-122"/>
              <a:cs typeface="Calibri" pitchFamily="34" charset="-120"/>
            </a:endParaRPr>
          </a:p>
          <a:p>
            <a:pPr marL="342900" indent="-342900">
              <a:spcAft>
                <a:spcPts val="400"/>
              </a:spcAft>
              <a:buSzPct val="100000"/>
              <a:buChar char="•"/>
            </a:pPr>
            <a:endParaRPr lang="en-US" sz="1500" dirty="0">
              <a:solidFill>
                <a:srgbClr val="222222"/>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Low physical activity → higher obesity rates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Poor diet → increased health risks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Water intake significantly impacts overall health</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Lifestyle strongly influences health outcomes</a:t>
            </a:r>
          </a:p>
          <a:p>
            <a:pPr>
              <a:spcAft>
                <a:spcPts val="400"/>
              </a:spcAft>
              <a:buSzPct val="100000"/>
            </a:pPr>
            <a:endParaRPr lang="en-US" sz="1500" dirty="0">
              <a:solidFill>
                <a:srgbClr val="222222"/>
              </a:solidFill>
              <a:latin typeface="Calibri" pitchFamily="34" charset="0"/>
              <a:ea typeface="Calibri" pitchFamily="34" charset="-122"/>
              <a:cs typeface="Calibri"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Conclusion</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1407861"/>
            <a:ext cx="7863840" cy="4114800"/>
          </a:xfrm>
          <a:prstGeom prst="rect">
            <a:avLst/>
          </a:prstGeom>
          <a:noFill/>
          <a:ln/>
        </p:spPr>
        <p:txBody>
          <a:bodyPr wrap="square" rtlCol="0" anchor="t"/>
          <a:lstStyle/>
          <a:p>
            <a:pPr>
              <a:spcAft>
                <a:spcPts val="400"/>
              </a:spcAft>
              <a:buSzPct val="100000"/>
            </a:pPr>
            <a:r>
              <a:rPr lang="en-US" sz="1600" dirty="0"/>
              <a:t>Dietary habits play a crucial role in determining overall health, as consistent consumption of unhealthy foods can lead to serious lifestyle-related diseases. Machine learning techniques provide an effective approach for accurately predicting health risks by analyzing complex relationships within the data. By leveraging these technologies, it becomes possible to identify potential issues at an early stage. Furthermore, data-driven analysis enhances public health awareness by offering meaningful insights, enabling individuals to make informed decisions and adopt healthier lifestyle practices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0000"/>
          </a:solidFill>
          <a:ln w="12700">
            <a:solidFill>
              <a:srgbClr val="000000"/>
            </a:solidFill>
            <a:prstDash val="solid"/>
          </a:ln>
        </p:spPr>
      </p:sp>
      <p:sp>
        <p:nvSpPr>
          <p:cNvPr id="3" name="Shape 1"/>
          <p:cNvSpPr/>
          <p:nvPr/>
        </p:nvSpPr>
        <p:spPr>
          <a:xfrm>
            <a:off x="0" y="5029200"/>
            <a:ext cx="9144000" cy="114300"/>
          </a:xfrm>
          <a:prstGeom prst="rect">
            <a:avLst/>
          </a:prstGeom>
          <a:solidFill>
            <a:srgbClr val="111111"/>
          </a:solidFill>
          <a:ln w="12700">
            <a:solidFill>
              <a:srgbClr val="111111"/>
            </a:solidFill>
            <a:prstDash val="solid"/>
          </a:ln>
        </p:spPr>
      </p:sp>
      <p:sp>
        <p:nvSpPr>
          <p:cNvPr id="6" name="Text 4"/>
          <p:cNvSpPr/>
          <p:nvPr/>
        </p:nvSpPr>
        <p:spPr>
          <a:xfrm>
            <a:off x="457200" y="109728"/>
            <a:ext cx="5943600" cy="502920"/>
          </a:xfrm>
          <a:prstGeom prst="rect">
            <a:avLst/>
          </a:prstGeom>
          <a:noFill/>
          <a:ln/>
        </p:spPr>
        <p:txBody>
          <a:bodyPr wrap="square" rtlCol="0" anchor="ctr"/>
          <a:lstStyle/>
          <a:p>
            <a:pPr marL="0" indent="0" algn="l">
              <a:buNone/>
            </a:pPr>
            <a:r>
              <a:rPr lang="en-US" sz="2600" b="1" dirty="0">
                <a:solidFill>
                  <a:srgbClr val="000000"/>
                </a:solidFill>
                <a:latin typeface="Calibri" pitchFamily="34" charset="0"/>
                <a:ea typeface="Calibri" pitchFamily="34" charset="-122"/>
                <a:cs typeface="Calibri" pitchFamily="34" charset="-120"/>
              </a:rPr>
              <a:t>Future Work</a:t>
            </a:r>
            <a:endParaRPr lang="en-US" sz="2600" dirty="0"/>
          </a:p>
        </p:txBody>
      </p:sp>
      <p:sp>
        <p:nvSpPr>
          <p:cNvPr id="7" name="Shape 5"/>
          <p:cNvSpPr/>
          <p:nvPr/>
        </p:nvSpPr>
        <p:spPr>
          <a:xfrm>
            <a:off x="457200" y="640080"/>
            <a:ext cx="8229600" cy="22860"/>
          </a:xfrm>
          <a:prstGeom prst="rect">
            <a:avLst/>
          </a:prstGeom>
          <a:solidFill>
            <a:srgbClr val="CCCCCC"/>
          </a:solidFill>
          <a:ln w="12700">
            <a:solidFill>
              <a:srgbClr val="CCCCCC"/>
            </a:solidFill>
            <a:prstDash val="solid"/>
          </a:ln>
        </p:spPr>
      </p:sp>
      <p:sp>
        <p:nvSpPr>
          <p:cNvPr id="8" name="Text 6"/>
          <p:cNvSpPr/>
          <p:nvPr/>
        </p:nvSpPr>
        <p:spPr>
          <a:xfrm>
            <a:off x="640080" y="1397351"/>
            <a:ext cx="7863840" cy="4114800"/>
          </a:xfrm>
          <a:prstGeom prst="rect">
            <a:avLst/>
          </a:prstGeom>
          <a:noFill/>
          <a:ln/>
        </p:spPr>
        <p:txBody>
          <a:bodyPr wrap="square"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Use larger and more diverse datasets</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Add more health parameters for better prediction</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Build a real-time health risk prediction system</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Develop a mobile or web application for end users</a:t>
            </a:r>
          </a:p>
          <a:p>
            <a:pPr>
              <a:spcAft>
                <a:spcPts val="400"/>
              </a:spcAft>
              <a:buSzPct val="100000"/>
            </a:pPr>
            <a:endParaRPr lang="en-US" sz="1500" dirty="0">
              <a:solidFill>
                <a:srgbClr val="222222"/>
              </a:solidFill>
              <a:latin typeface="Calibri" pitchFamily="34" charset="0"/>
              <a:ea typeface="Calibri" pitchFamily="34" charset="-122"/>
              <a:cs typeface="Calibri" pitchFamily="34" charset="-120"/>
            </a:endParaRPr>
          </a:p>
          <a:p>
            <a:pPr>
              <a:spcAft>
                <a:spcPts val="400"/>
              </a:spcAft>
              <a:buSzPct val="100000"/>
            </a:pPr>
            <a:r>
              <a:rPr lang="en-US" sz="1600" dirty="0"/>
              <a:t>The development of a real-time health risk prediction system would enable continuous monitoring and early detection of potential health issues. Additionally, creating a user-friendly mobile or web application can make the system accessible to end users, promoting better health management and awareness.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857</Words>
  <Application>Microsoft Office PowerPoint</Application>
  <PresentationFormat>On-screen Show (16:9)</PresentationFormat>
  <Paragraphs>89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NutritionSense</dc:title>
  <dc:subject>PptxGenJS Presentation</dc:subject>
  <dc:creator>PptxGenJS</dc:creator>
  <cp:lastModifiedBy>Ria Varsha</cp:lastModifiedBy>
  <cp:revision>2</cp:revision>
  <dcterms:created xsi:type="dcterms:W3CDTF">2026-04-17T15:19:49Z</dcterms:created>
  <dcterms:modified xsi:type="dcterms:W3CDTF">2026-04-17T15:52:50Z</dcterms:modified>
</cp:coreProperties>
</file>